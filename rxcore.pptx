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0"/>
            <a:ext cx="8503920" cy="2377440"/>
          </a:xfrm>
          <a:prstGeom prst="rect">
            <a:avLst/>
          </a:prstGeom>
          <a:solidFill>
            <a:srgbClr val="1A2A45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9CF9"/>
                </a:solidFill>
              </a:rPr>
              <a:t>RESHAPE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Industrial AI that knows </a:t>
            </a:r>
          </a:p>
          <a:p>
            <a:pPr algn="ctr"/>
            <a:r>
              <a:rPr sz="4000" b="1">
                <a:solidFill>
                  <a:srgbClr val="4F9CF9"/>
                </a:solidFill>
              </a:rPr>
              <a:t>your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5BC"/>
                </a:solidFill>
              </a:rPr>
              <a:t>RxCore is the intelligence engine behind Reshape's agents. Trained on your product data, connected to your systems, and built to answer industrial automation questions with near-perfect accuracy — at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43400"/>
            <a:ext cx="3017520" cy="457200"/>
          </a:xfrm>
          <a:prstGeom prst="rect">
            <a:avLst/>
          </a:prstGeom>
          <a:solidFill>
            <a:srgbClr val="1E2636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CDE0"/>
                </a:solidFill>
              </a:rPr>
              <a:t>99.9% accuracy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8888" y="4343400"/>
            <a:ext cx="3017520" cy="457200"/>
          </a:xfrm>
          <a:prstGeom prst="rect">
            <a:avLst/>
          </a:prstGeom>
          <a:solidFill>
            <a:srgbClr val="1E2636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CDE0"/>
                </a:solidFill>
              </a:rPr>
              <a:t>API · MCP · A2A 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66176" y="4343400"/>
            <a:ext cx="3017520" cy="457200"/>
          </a:xfrm>
          <a:prstGeom prst="rect">
            <a:avLst/>
          </a:prstGeom>
          <a:solidFill>
            <a:srgbClr val="1E2636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CDE0"/>
                </a:solidFill>
              </a:rPr>
              <a:t>Siemens · Turck · Festo &amp;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722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576E"/>
                </a:solidFill>
              </a:rPr>
              <a:t>RXCORE &amp; KCS —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2" y="6473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A93"/>
                </a:solidFill>
              </a:rPr>
              <a:t>1 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4739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F9CF9"/>
                </a:solidFill>
              </a:rPr>
              <a:t>Reshape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81F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686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RxCore is a </a:t>
            </a:r>
            <a:r>
              <a:rPr sz="2400" b="1">
                <a:solidFill>
                  <a:srgbClr val="4F9CF9"/>
                </a:solidFill>
              </a:rPr>
              <a:t>platform, not a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A5BC"/>
                </a:solidFill>
              </a:rPr>
              <a:t>Think of it as the engine under the hood. Your customer-facing tools and team applications sit on top of it — RxCore provides the intelligence, data, and accuracy layer that makes all of them reliable.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76E"/>
                </a:solidFill>
              </a:rPr>
              <a:t>SLIDE 2 · PLATFORM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694944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YOUR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45920"/>
            <a:ext cx="8595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C"/>
                </a:solidFill>
              </a:rPr>
              <a:t>Chatbots, quote builders, configurators, search interfaces — your UX and business logic, built on top of the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74552" cy="694944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048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YOUR EXISTING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04872"/>
            <a:ext cx="8595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C"/>
                </a:solidFill>
              </a:rPr>
              <a:t>ERP, CRM, website, email — RxCore connects to what you already have, without replacing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11274552" cy="694944"/>
          </a:xfrm>
          <a:prstGeom prst="rect">
            <a:avLst/>
          </a:prstGeom>
          <a:solidFill>
            <a:srgbClr val="221A3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63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GROUNDING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63824"/>
            <a:ext cx="8595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C"/>
                </a:solidFill>
              </a:rPr>
              <a:t>The reasoning engine — understands PLCs, SCADA, drives, sensors, and 100,000+ SKUs. Everything between the user's question and an accurate answer.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9624"/>
            <a:ext cx="11274552" cy="694944"/>
          </a:xfrm>
          <a:prstGeom prst="rect">
            <a:avLst/>
          </a:prstGeom>
          <a:solidFill>
            <a:srgbClr val="1A2A45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9CF9"/>
                </a:solidFill>
              </a:rPr>
              <a:t>RXCORE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22776"/>
            <a:ext cx="8595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C"/>
                </a:solidFill>
              </a:rPr>
              <a:t>Centralized intelligence &amp; infrastructure — accessible via API, tool, MCP, or agent-to-agent (A2A). Everything above depends on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08576"/>
            <a:ext cx="11274552" cy="694944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KNOWLEDGE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81728"/>
            <a:ext cx="8595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C"/>
                </a:solidFill>
              </a:rPr>
              <a:t>Pre-builds your product knowledge — catalog, specs, compatibility, relationships — so agents answer instantly and reliably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722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576E"/>
                </a:solidFill>
              </a:rPr>
              <a:t>PLATFORM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6473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A93"/>
                </a:solidFill>
              </a:rPr>
              <a:t>2 /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739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F9CF9"/>
                </a:solidFill>
              </a:rPr>
              <a:t>Reshape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81F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686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How the grounding layer </a:t>
            </a:r>
            <a:r>
              <a:rPr sz="2400" b="1">
                <a:solidFill>
                  <a:srgbClr val="4F9CF9"/>
                </a:solidFill>
              </a:rPr>
              <a:t>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A5BC"/>
                </a:solidFill>
              </a:rPr>
              <a:t>Three engineering disciplines work together to turn a general-purpose AI into a specialist in your product catalog and industrial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76E"/>
                </a:solidFill>
              </a:rPr>
              <a:t>SLIDE 3 ·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3657600" cy="466344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719072"/>
            <a:ext cx="310896" cy="310896"/>
          </a:xfrm>
          <a:prstGeom prst="rect">
            <a:avLst/>
          </a:prstGeom>
          <a:solidFill>
            <a:srgbClr val="1A3A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69164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How it reasons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7510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ORCHESTRATION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40864"/>
            <a:ext cx="64008" cy="64008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4942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Purpose-built workflows</a:t>
            </a:r>
            <a:r>
              <a:rPr sz="1000">
                <a:solidFill>
                  <a:srgbClr val="9AA5BC"/>
                </a:solidFill>
              </a:rPr>
              <a:t> — find a substitute, check compatibility, configure a product follow defined steps, not improvisation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889504"/>
            <a:ext cx="64008" cy="64008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79806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Right workflow, every time</a:t>
            </a:r>
            <a:r>
              <a:rPr sz="1000">
                <a:solidFill>
                  <a:srgbClr val="9AA5BC"/>
                </a:solidFill>
              </a:rPr>
              <a:t> — the agent selects the appropriate pattern at the start of each turn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38144"/>
            <a:ext cx="64008" cy="64008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34670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Specialized sub-agents</a:t>
            </a:r>
            <a:r>
              <a:rPr sz="1000">
                <a:solidFill>
                  <a:srgbClr val="9AA5BC"/>
                </a:solidFill>
              </a:rPr>
              <a:t> — complex queries split across focused agents that run in parallel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986784"/>
            <a:ext cx="64008" cy="64008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89534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Built-in safety checks</a:t>
            </a:r>
            <a:r>
              <a:rPr sz="1000">
                <a:solidFill>
                  <a:srgbClr val="9AA5BC"/>
                </a:solidFill>
              </a:rPr>
              <a:t> — inputs and outputs validated automatically; unsafe requests blocked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572768"/>
            <a:ext cx="3657600" cy="466344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1719072"/>
            <a:ext cx="310896" cy="310896"/>
          </a:xfrm>
          <a:prstGeom prst="rect">
            <a:avLst/>
          </a:prstGeom>
          <a:solidFill>
            <a:srgbClr val="1A3A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69164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6" y="1719072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What it knows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7176" y="197510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</a:rPr>
              <a:t>KNOWLEDGE TOOLS (FROM KCS)</a:t>
            </a:r>
          </a:p>
        </p:txBody>
      </p:sp>
      <p:sp>
        <p:nvSpPr>
          <p:cNvPr id="24" name="Oval 23"/>
          <p:cNvSpPr/>
          <p:nvPr/>
        </p:nvSpPr>
        <p:spPr>
          <a:xfrm>
            <a:off x="4453128" y="2340864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224942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Built from your catalog</a:t>
            </a:r>
            <a:r>
              <a:rPr sz="1000">
                <a:solidFill>
                  <a:srgbClr val="9AA5BC"/>
                </a:solidFill>
              </a:rPr>
              <a:t> — queries structured tools generated from your own product data, not live brand APIs</a:t>
            </a:r>
          </a:p>
        </p:txBody>
      </p:sp>
      <p:sp>
        <p:nvSpPr>
          <p:cNvPr id="26" name="Oval 25"/>
          <p:cNvSpPr/>
          <p:nvPr/>
        </p:nvSpPr>
        <p:spPr>
          <a:xfrm>
            <a:off x="4453128" y="2889504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279806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Understands relationships</a:t>
            </a:r>
            <a:r>
              <a:rPr sz="1000">
                <a:solidFill>
                  <a:srgbClr val="9AA5BC"/>
                </a:solidFill>
              </a:rPr>
              <a:t> — what replaces what, what works with what, which families are compatible</a:t>
            </a:r>
          </a:p>
        </p:txBody>
      </p:sp>
      <p:sp>
        <p:nvSpPr>
          <p:cNvPr id="28" name="Oval 27"/>
          <p:cNvSpPr/>
          <p:nvPr/>
        </p:nvSpPr>
        <p:spPr>
          <a:xfrm>
            <a:off x="4453128" y="3438144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34670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Lifecycle-aware</a:t>
            </a:r>
            <a:r>
              <a:rPr sz="1000">
                <a:solidFill>
                  <a:srgbClr val="9AA5BC"/>
                </a:solidFill>
              </a:rPr>
              <a:t> — always checks active vs. end-of-life status before recommending any product</a:t>
            </a:r>
          </a:p>
        </p:txBody>
      </p:sp>
      <p:sp>
        <p:nvSpPr>
          <p:cNvPr id="30" name="Oval 29"/>
          <p:cNvSpPr/>
          <p:nvPr/>
        </p:nvSpPr>
        <p:spPr>
          <a:xfrm>
            <a:off x="4453128" y="3986784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89534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Live inventory &amp; pricing</a:t>
            </a:r>
            <a:r>
              <a:rPr sz="1000">
                <a:solidFill>
                  <a:srgbClr val="9AA5BC"/>
                </a:solidFill>
              </a:rPr>
              <a:t> — stock and prices synced continuously so agents always quote accurately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1572768"/>
            <a:ext cx="3657600" cy="466344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719072"/>
            <a:ext cx="310896" cy="310896"/>
          </a:xfrm>
          <a:prstGeom prst="rect">
            <a:avLst/>
          </a:prstGeom>
          <a:solidFill>
            <a:srgbClr val="1A3A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169164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1719072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What it remembers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197510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</a:rPr>
              <a:t>CONTEXT ENGINEERING</a:t>
            </a:r>
          </a:p>
        </p:txBody>
      </p:sp>
      <p:sp>
        <p:nvSpPr>
          <p:cNvPr id="37" name="Oval 36"/>
          <p:cNvSpPr/>
          <p:nvPr/>
        </p:nvSpPr>
        <p:spPr>
          <a:xfrm>
            <a:off x="8266176" y="2340864"/>
            <a:ext cx="64008" cy="6400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224942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Three memory layers</a:t>
            </a:r>
            <a:r>
              <a:rPr sz="1000">
                <a:solidFill>
                  <a:srgbClr val="9AA5BC"/>
                </a:solidFill>
              </a:rPr>
              <a:t> — long-term knowledge, the current conversation, and a fast-access cache</a:t>
            </a:r>
          </a:p>
        </p:txBody>
      </p:sp>
      <p:sp>
        <p:nvSpPr>
          <p:cNvPr id="39" name="Oval 38"/>
          <p:cNvSpPr/>
          <p:nvPr/>
        </p:nvSpPr>
        <p:spPr>
          <a:xfrm>
            <a:off x="8266176" y="2889504"/>
            <a:ext cx="64008" cy="6400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79806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No stale distraction</a:t>
            </a:r>
            <a:r>
              <a:rPr sz="1000">
                <a:solidFill>
                  <a:srgbClr val="9AA5BC"/>
                </a:solidFill>
              </a:rPr>
              <a:t> — old tool results pruned so they don't mislead the model on later turns</a:t>
            </a:r>
          </a:p>
        </p:txBody>
      </p:sp>
      <p:sp>
        <p:nvSpPr>
          <p:cNvPr id="41" name="Oval 40"/>
          <p:cNvSpPr/>
          <p:nvPr/>
        </p:nvSpPr>
        <p:spPr>
          <a:xfrm>
            <a:off x="8266176" y="3438144"/>
            <a:ext cx="64008" cy="6400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334670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Smart summarization</a:t>
            </a:r>
            <a:r>
              <a:rPr sz="1000">
                <a:solidFill>
                  <a:srgbClr val="9AA5BC"/>
                </a:solidFill>
              </a:rPr>
              <a:t> — long conversations compressed without losing key earlier context</a:t>
            </a:r>
          </a:p>
        </p:txBody>
      </p:sp>
      <p:sp>
        <p:nvSpPr>
          <p:cNvPr id="43" name="Oval 42"/>
          <p:cNvSpPr/>
          <p:nvPr/>
        </p:nvSpPr>
        <p:spPr>
          <a:xfrm>
            <a:off x="8266176" y="3986784"/>
            <a:ext cx="64008" cy="6400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895344"/>
            <a:ext cx="3182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Curated, not accumulated</a:t>
            </a:r>
            <a:r>
              <a:rPr sz="1000">
                <a:solidFill>
                  <a:srgbClr val="9AA5BC"/>
                </a:solidFill>
              </a:rPr>
              <a:t> — every token in context is there because it's useful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722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576E"/>
                </a:solidFill>
              </a:rPr>
              <a:t>REASONING · KNOWLEDGE · 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2952" y="6473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A93"/>
                </a:solidFill>
              </a:rPr>
              <a:t>3 /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4739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F9CF9"/>
                </a:solidFill>
              </a:rPr>
              <a:t>Reshape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81F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686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Before answering, </a:t>
            </a:r>
            <a:r>
              <a:rPr sz="2400" b="1">
                <a:solidFill>
                  <a:srgbClr val="4F9CF9"/>
                </a:solidFill>
              </a:rPr>
              <a:t>RxCore checks everything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A5BC"/>
                </a:solidFill>
              </a:rPr>
              <a:t>The agent fans out across your entire knowledge layer simultaneously, scores every piece of evidence, and only composes an answer once all research is complete — never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76E"/>
                </a:solidFill>
              </a:rPr>
              <a:t>SLIDE 4 · PARALLEL RESEARCH &amp;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" y="1572768"/>
            <a:ext cx="3291840" cy="23317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" y="16824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" y="18470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Parallel fan-out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" y="2139696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Knowledge graph</a:t>
            </a:r>
            <a:r>
              <a:rPr sz="1000">
                <a:solidFill>
                  <a:srgbClr val="9AA5BC"/>
                </a:solidFill>
              </a:rPr>
              <a:t> — relationships &amp; inferred compatibility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" y="245059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Product database</a:t>
            </a:r>
            <a:r>
              <a:rPr sz="1000">
                <a:solidFill>
                  <a:srgbClr val="9AA5BC"/>
                </a:solidFill>
              </a:rPr>
              <a:t> — official specs, lifecycle, replacements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" y="276148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Semantic search</a:t>
            </a:r>
            <a:r>
              <a:rPr sz="1000">
                <a:solidFill>
                  <a:srgbClr val="9AA5BC"/>
                </a:solidFill>
              </a:rPr>
              <a:t> — fuzzy natural-language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" y="307238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Web fallback</a:t>
            </a:r>
            <a:r>
              <a:rPr sz="1000">
                <a:solidFill>
                  <a:srgbClr val="9AA5BC"/>
                </a:solidFill>
              </a:rPr>
              <a:t> — fills gaps when internal data is incomplete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940" y="248716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8556" y="1572768"/>
            <a:ext cx="3291840" cy="23317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5716" y="16824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18470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Evidence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716" y="2139696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• Graph: edge weight &amp; path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245059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• Database: exact match vs. inferred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716" y="276148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• Semantic: similarity score &amp;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5716" y="307238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Missing data = explicit "not found"</a:t>
            </a:r>
            <a:r>
              <a:rPr sz="1000">
                <a:solidFill>
                  <a:srgbClr val="9AA5BC"/>
                </a:solidFill>
              </a:rPr>
              <a:t> — never silent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6116" y="248716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2732" y="1572768"/>
            <a:ext cx="3291840" cy="23317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892" y="16824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9892" y="18470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Reconcile &amp;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892" y="2139696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HIGH — Graph + DB agree → stated plainly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892" y="245059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MEDIUM — Single authoritative source → hedged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9892" y="276148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LOW — Semantic only → uncertainty disclosed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9892" y="307238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CONFLICT — Sources disagree → both surfaced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69080"/>
            <a:ext cx="5577840" cy="23317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4215384"/>
            <a:ext cx="310896" cy="310896"/>
          </a:xfrm>
          <a:prstGeom prst="rect">
            <a:avLst/>
          </a:prstGeom>
          <a:solidFill>
            <a:srgbClr val="1A3A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418795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21538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Why this produces better answers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471416"/>
            <a:ext cx="4864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18CF8"/>
                </a:solidFill>
              </a:rPr>
              <a:t>NO EARLY COMMITMENT, NO GUESSING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4837176"/>
            <a:ext cx="64008" cy="640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74573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All research completes before any answer is written</a:t>
            </a:r>
            <a:r>
              <a:rPr sz="1000">
                <a:solidFill>
                  <a:srgbClr val="9AA5BC"/>
                </a:solidFill>
              </a:rPr>
              <a:t> — agent cannot short-circuit with partial result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385816"/>
            <a:ext cx="64008" cy="640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29437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5BC"/>
                </a:solidFill>
              </a:rPr>
              <a:t>Multi-source triangulation eliminates the most common AI failure: anchoring on first result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" y="5934456"/>
            <a:ext cx="64008" cy="640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84301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"Not found" signals trigger escalation to broader search</a:t>
            </a:r>
            <a:r>
              <a:rPr sz="1000">
                <a:solidFill>
                  <a:srgbClr val="9AA5BC"/>
                </a:solidFill>
              </a:rPr>
              <a:t> — never a fabricated answer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4" y="4069080"/>
            <a:ext cx="5577840" cy="23317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27648" y="4215384"/>
            <a:ext cx="310896" cy="310896"/>
          </a:xfrm>
          <a:prstGeom prst="rect">
            <a:avLst/>
          </a:prstGeom>
          <a:solidFill>
            <a:srgbClr val="1A3A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18795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21538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What you see as a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4471416"/>
            <a:ext cx="4864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3E635"/>
                </a:solidFill>
              </a:rPr>
              <a:t>TRANSPARENT, TRUSTWORTHY ANSWERS</a:t>
            </a:r>
          </a:p>
        </p:txBody>
      </p:sp>
      <p:sp>
        <p:nvSpPr>
          <p:cNvPr id="45" name="Oval 44"/>
          <p:cNvSpPr/>
          <p:nvPr/>
        </p:nvSpPr>
        <p:spPr>
          <a:xfrm>
            <a:off x="6364224" y="4837176"/>
            <a:ext cx="64008" cy="64008"/>
          </a:xfrm>
          <a:prstGeom prst="ellipse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474573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Every claim is sourced</a:t>
            </a:r>
            <a:r>
              <a:rPr sz="1000">
                <a:solidFill>
                  <a:srgbClr val="9AA5BC"/>
                </a:solidFill>
              </a:rPr>
              <a:t> — official specs vs. inferred compatibility, clearly labelled</a:t>
            </a:r>
          </a:p>
        </p:txBody>
      </p:sp>
      <p:sp>
        <p:nvSpPr>
          <p:cNvPr id="47" name="Oval 46"/>
          <p:cNvSpPr/>
          <p:nvPr/>
        </p:nvSpPr>
        <p:spPr>
          <a:xfrm>
            <a:off x="6364224" y="5385816"/>
            <a:ext cx="64008" cy="64008"/>
          </a:xfrm>
          <a:prstGeom prst="ellipse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529437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Uncertainty is surfaced, not hidden</a:t>
            </a:r>
            <a:r>
              <a:rPr sz="1000">
                <a:solidFill>
                  <a:srgbClr val="9AA5BC"/>
                </a:solidFill>
              </a:rPr>
              <a:t> — weak evidence disclosed, not masked with confidence</a:t>
            </a:r>
          </a:p>
        </p:txBody>
      </p:sp>
      <p:sp>
        <p:nvSpPr>
          <p:cNvPr id="49" name="Oval 48"/>
          <p:cNvSpPr/>
          <p:nvPr/>
        </p:nvSpPr>
        <p:spPr>
          <a:xfrm>
            <a:off x="6364224" y="5934456"/>
            <a:ext cx="64008" cy="64008"/>
          </a:xfrm>
          <a:prstGeom prst="ellipse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584301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Conflicts shown</a:t>
            </a:r>
            <a:r>
              <a:rPr sz="1000">
                <a:solidFill>
                  <a:srgbClr val="9AA5BC"/>
                </a:solidFill>
              </a:rPr>
              <a:t> — when sources disagree, both perspectives surfaced for your team to decide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722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576E"/>
                </a:solidFill>
              </a:rPr>
              <a:t>PARALLEL RESEARCH · SCORED EVIDENCE · TRANSPARENT ANSWERS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2952" y="6473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A93"/>
                </a:solidFill>
              </a:rPr>
              <a:t>4 / 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1672" y="64739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F9CF9"/>
                </a:solidFill>
              </a:rPr>
              <a:t>Reshape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81F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686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We train a specialist </a:t>
            </a:r>
            <a:r>
              <a:rPr sz="2400" b="1">
                <a:solidFill>
                  <a:srgbClr val="4F9CF9"/>
                </a:solidFill>
              </a:rPr>
              <a:t>before they start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A5BC"/>
                </a:solidFill>
              </a:rPr>
              <a:t>The Knowledge Construction System (KCS) pre-builds a structured, queryable knowledge layer from your catalog data — so the agent never scrambles at the moment a customer asks a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76E"/>
                </a:solidFill>
              </a:rPr>
              <a:t>SLIDE 5 · KNOWLEDGE CONSTRUCTION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" y="1572768"/>
            <a:ext cx="3291840" cy="21031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" y="16824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" y="18470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Your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" y="2139696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Files</a:t>
            </a:r>
            <a:r>
              <a:rPr sz="1000">
                <a:solidFill>
                  <a:srgbClr val="9AA5BC"/>
                </a:solidFill>
              </a:rPr>
              <a:t> — PDF catalogs, datasheets, Excel 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" y="245059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Web</a:t>
            </a:r>
            <a:r>
              <a:rPr sz="1000">
                <a:solidFill>
                  <a:srgbClr val="9AA5BC"/>
                </a:solidFill>
              </a:rPr>
              <a:t> — brand websites, product pages,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" y="276148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APIs</a:t>
            </a:r>
            <a:r>
              <a:rPr sz="1000">
                <a:solidFill>
                  <a:srgbClr val="9AA5BC"/>
                </a:solidFill>
              </a:rPr>
              <a:t> — official brand APIs (e.g. Siemens SiePortal)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" y="307238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Experts</a:t>
            </a:r>
            <a:r>
              <a:rPr sz="1000">
                <a:solidFill>
                  <a:srgbClr val="9AA5BC"/>
                </a:solidFill>
              </a:rPr>
              <a:t> — your team contributes knowledge via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940" y="239572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8556" y="1572768"/>
            <a:ext cx="3291840" cy="21031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5716" y="16824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18470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KG Constructor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716" y="2139696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Ingestion</a:t>
            </a:r>
            <a:r>
              <a:rPr sz="1000">
                <a:solidFill>
                  <a:srgbClr val="9AA5BC"/>
                </a:solidFill>
              </a:rPr>
              <a:t> — parse, normalize, deduplicate all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245059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Schema modeling</a:t>
            </a:r>
            <a:r>
              <a:rPr sz="1000">
                <a:solidFill>
                  <a:srgbClr val="9AA5BC"/>
                </a:solidFill>
              </a:rPr>
              <a:t> — learns how this brand organizes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716" y="276148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Validation loop</a:t>
            </a:r>
            <a:r>
              <a:rPr sz="1000">
                <a:solidFill>
                  <a:srgbClr val="9AA5BC"/>
                </a:solidFill>
              </a:rPr>
              <a:t> — flags conflicts, proposes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5716" y="307238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FDE review</a:t>
            </a:r>
            <a:r>
              <a:rPr sz="1000">
                <a:solidFill>
                  <a:srgbClr val="9AA5BC"/>
                </a:solidFill>
              </a:rPr>
              <a:t> — your team approves structural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6116" y="239572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2732" y="1572768"/>
            <a:ext cx="3291840" cy="210312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892" y="16824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9892" y="18470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Structured knowledge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892" y="2139696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Knowledge graph</a:t>
            </a:r>
            <a:r>
              <a:rPr sz="1000">
                <a:solidFill>
                  <a:srgbClr val="9AA5BC"/>
                </a:solidFill>
              </a:rPr>
              <a:t> — relationships, compatibility, replacements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892" y="245059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Product database</a:t>
            </a:r>
            <a:r>
              <a:rPr sz="1000">
                <a:solidFill>
                  <a:srgbClr val="9AA5BC"/>
                </a:solidFill>
              </a:rPr>
              <a:t> — specs, lifecycle, stock,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9892" y="276148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• Semantic index</a:t>
            </a:r>
            <a:r>
              <a:rPr sz="1000">
                <a:solidFill>
                  <a:srgbClr val="9AA5BC"/>
                </a:solidFill>
              </a:rPr>
              <a:t> — natural-language product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94760"/>
            <a:ext cx="5577840" cy="246888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" y="3941064"/>
            <a:ext cx="310896" cy="310896"/>
          </a:xfrm>
          <a:prstGeom prst="rect">
            <a:avLst/>
          </a:prstGeom>
          <a:solidFill>
            <a:srgbClr val="1A3A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39136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394106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Gets smarter with every 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197096"/>
            <a:ext cx="4864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923C"/>
                </a:solidFill>
              </a:rPr>
              <a:t>BRAND-SPECIFIC LEARNING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562856"/>
            <a:ext cx="64008" cy="6400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47141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Memory across onboardings</a:t>
            </a:r>
            <a:r>
              <a:rPr sz="1000">
                <a:solidFill>
                  <a:srgbClr val="9AA5BC"/>
                </a:solidFill>
              </a:rPr>
              <a:t> — lessons from Siemens inform how ABB or Rockwell is processed next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5111496"/>
            <a:ext cx="64008" cy="6400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02005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Faster with each brand</a:t>
            </a:r>
            <a:r>
              <a:rPr sz="1000">
                <a:solidFill>
                  <a:srgbClr val="9AA5BC"/>
                </a:solidFill>
              </a:rPr>
              <a:t> — 20 iterations for brand 1, 5 for brand 10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5660136"/>
            <a:ext cx="64008" cy="6400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56869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Adapts to each catalog structure</a:t>
            </a:r>
            <a:r>
              <a:rPr sz="1000">
                <a:solidFill>
                  <a:srgbClr val="9AA5BC"/>
                </a:solidFill>
              </a:rPr>
              <a:t> — Siemens, Rockwell, Schneider all organize products differently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3794760"/>
            <a:ext cx="5577840" cy="246888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3941064"/>
            <a:ext cx="310896" cy="310896"/>
          </a:xfrm>
          <a:prstGeom prst="rect">
            <a:avLst/>
          </a:prstGeom>
          <a:solidFill>
            <a:srgbClr val="1A3A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9136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394106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DE0"/>
                </a:solidFill>
              </a:rPr>
              <a:t>Stays up to date automatically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197096"/>
            <a:ext cx="4864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7185"/>
                </a:solidFill>
              </a:rPr>
              <a:t>CONTINUOUS SYNC</a:t>
            </a:r>
          </a:p>
        </p:txBody>
      </p:sp>
      <p:sp>
        <p:nvSpPr>
          <p:cNvPr id="44" name="Oval 43"/>
          <p:cNvSpPr/>
          <p:nvPr/>
        </p:nvSpPr>
        <p:spPr>
          <a:xfrm>
            <a:off x="6364224" y="4562856"/>
            <a:ext cx="64008" cy="6400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447141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Triggered by changes</a:t>
            </a:r>
            <a:r>
              <a:rPr sz="1000">
                <a:solidFill>
                  <a:srgbClr val="9AA5BC"/>
                </a:solidFill>
              </a:rPr>
              <a:t> — new catalog files, API updates, or scheduled syncs kick off a refresh</a:t>
            </a:r>
          </a:p>
        </p:txBody>
      </p:sp>
      <p:sp>
        <p:nvSpPr>
          <p:cNvPr id="46" name="Oval 45"/>
          <p:cNvSpPr/>
          <p:nvPr/>
        </p:nvSpPr>
        <p:spPr>
          <a:xfrm>
            <a:off x="6364224" y="5111496"/>
            <a:ext cx="64008" cy="6400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502005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Low-risk changes auto-applied</a:t>
            </a:r>
            <a:r>
              <a:rPr sz="1000">
                <a:solidFill>
                  <a:srgbClr val="9AA5BC"/>
                </a:solidFill>
              </a:rPr>
              <a:t> — price and stock go straight in; structural changes queued</a:t>
            </a:r>
          </a:p>
        </p:txBody>
      </p:sp>
      <p:sp>
        <p:nvSpPr>
          <p:cNvPr id="48" name="Oval 47"/>
          <p:cNvSpPr/>
          <p:nvPr/>
        </p:nvSpPr>
        <p:spPr>
          <a:xfrm>
            <a:off x="6364224" y="5660136"/>
            <a:ext cx="64008" cy="6400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0528" y="5568696"/>
            <a:ext cx="5102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5CDE0"/>
                </a:solidFill>
              </a:rPr>
              <a:t>High-frequency pricing &amp; inventory</a:t>
            </a:r>
            <a:r>
              <a:rPr sz="1000">
                <a:solidFill>
                  <a:srgbClr val="9AA5BC"/>
                </a:solidFill>
              </a:rPr>
              <a:t> — synced more often than taxonomy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722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576E"/>
                </a:solidFill>
              </a:rPr>
              <a:t>BUILD-TIME KNOWLEDGE · BRAND LEARNING · CONTINUOUS SYNC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6473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A93"/>
                </a:solidFill>
              </a:rPr>
              <a:t>5 / 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1672" y="64739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F9CF9"/>
                </a:solidFill>
              </a:rPr>
              <a:t>Reshape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81F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686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Three ways to answer </a:t>
            </a:r>
            <a:r>
              <a:rPr sz="2400" b="1">
                <a:solidFill>
                  <a:srgbClr val="4F9CF9"/>
                </a:solidFill>
              </a:rPr>
              <a:t>any product question accurately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A5BC"/>
                </a:solidFill>
              </a:rPr>
              <a:t>KCS produces three complementary knowledge surfaces. The grounding layer queries all three through stable, generated tools — it never calls brand APIs at the moment a question is asked.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76E"/>
                </a:solidFill>
              </a:rPr>
              <a:t>SLIDE 6 · KNOWLEDGE LAYER &amp;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3657600" cy="292608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719072"/>
            <a:ext cx="310896" cy="310896"/>
          </a:xfrm>
          <a:prstGeom prst="rect">
            <a:avLst/>
          </a:prstGeom>
          <a:solidFill>
            <a:srgbClr val="1A1A4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🕸️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CDE0"/>
                </a:solidFill>
              </a:rPr>
              <a:t>Knowledge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7510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</a:rPr>
              <a:t>RELATIONSHIPS &amp; INFERRED COMPATIBILITY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86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5BC"/>
                </a:solidFill>
              </a:rPr>
              <a:t>Captures your product catalog structure and the relationships your data implies — even when no source explicitly states them. Powers 'what replaces this?' and cross-family recommendations.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657599"/>
            <a:ext cx="1517904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75887"/>
            <a:ext cx="1517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graph_search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3657599"/>
            <a:ext cx="1517904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8568" y="3675887"/>
            <a:ext cx="1517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get_taxonomy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3904" y="3657599"/>
            <a:ext cx="1956816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3675887"/>
            <a:ext cx="1956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find_spare_parts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33872" y="3657599"/>
            <a:ext cx="2066544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3675887"/>
            <a:ext cx="2066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recommend_modules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572768"/>
            <a:ext cx="3657600" cy="292608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6552" y="1719072"/>
            <a:ext cx="310896" cy="310896"/>
          </a:xfrm>
          <a:prstGeom prst="rect">
            <a:avLst/>
          </a:prstGeom>
          <a:solidFill>
            <a:srgbClr val="1A1A4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7176" y="171907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CDE0"/>
                </a:solidFill>
              </a:rPr>
              <a:t>Product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197510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</a:rPr>
              <a:t>OFFICIAL 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286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5BC"/>
                </a:solidFill>
              </a:rPr>
              <a:t>What brand APIs and official sources explicitly declare: specs, certified replacements, lifecycle status, pricing, and stock. Deliberately separate so the agent is always transparent about its source.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657599"/>
            <a:ext cx="1188720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675887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sql_query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96712" y="3657599"/>
            <a:ext cx="1847088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42432" y="3675887"/>
            <a:ext cx="1847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get_stock_price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16952" y="3657599"/>
            <a:ext cx="1956816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3675887"/>
            <a:ext cx="1956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get_alternatives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3657599"/>
            <a:ext cx="2286000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675887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check_compatibility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1572768"/>
            <a:ext cx="3657600" cy="2926080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719072"/>
            <a:ext cx="310896" cy="310896"/>
          </a:xfrm>
          <a:prstGeom prst="rect">
            <a:avLst/>
          </a:prstGeom>
          <a:solidFill>
            <a:srgbClr val="1A1A4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171907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CDE0"/>
                </a:solidFill>
              </a:rPr>
              <a:t>Semantic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1975104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NATURAL LANGUAGE PRODUCT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2286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5BC"/>
                </a:solidFill>
              </a:rPr>
              <a:t>Embeddings from both the database and knowledge graph. Handles vague queries like 'something like the S7-1200 but cheaper' — surfaces candidates the agent enriches with structured data.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7888" y="3657599"/>
            <a:ext cx="1298448" cy="274320"/>
          </a:xfrm>
          <a:prstGeom prst="rect">
            <a:avLst/>
          </a:prstGeom>
          <a:solidFill>
            <a:srgbClr val="0F1117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3608" y="3675887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3E635"/>
                </a:solidFill>
              </a:rPr>
              <a:t>rag_search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681728"/>
            <a:ext cx="11274552" cy="1389888"/>
          </a:xfrm>
          <a:prstGeom prst="rect">
            <a:avLst/>
          </a:prstGeom>
          <a:solidFill>
            <a:srgbClr val="1C2235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77316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9CF9"/>
                </a:solidFill>
              </a:rPr>
              <a:t>WHAT ONBOARDING A BRAND LOOKS LIKE — EXAMPLE: SIEMENS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047488"/>
            <a:ext cx="3474720" cy="804672"/>
          </a:xfrm>
          <a:prstGeom prst="rect">
            <a:avLst/>
          </a:prstGeom>
          <a:solidFill>
            <a:srgbClr val="161D30"/>
          </a:solidFill>
          <a:ln w="9525">
            <a:solidFill>
              <a:srgbClr val="2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08406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9CF9"/>
                </a:solidFill>
              </a:rPr>
              <a:t>FEED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5303520"/>
            <a:ext cx="3246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5BC"/>
                </a:solidFill>
              </a:rPr>
              <a:t>SiePortal API and PDF catalogs are ingested by the KG Constructor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0832" y="5047488"/>
            <a:ext cx="3474720" cy="804672"/>
          </a:xfrm>
          <a:prstGeom prst="rect">
            <a:avLst/>
          </a:prstGeom>
          <a:solidFill>
            <a:srgbClr val="161D30"/>
          </a:solidFill>
          <a:ln w="9525">
            <a:solidFill>
              <a:srgbClr val="2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0" y="508406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9CF9"/>
                </a:solidFill>
              </a:rPr>
              <a:t>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303520"/>
            <a:ext cx="3246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5BC"/>
                </a:solidFill>
              </a:rPr>
              <a:t>A Siemens-specific knowledge graph is constructed; the product database is populated with official API declarations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01584" y="5047488"/>
            <a:ext cx="3474720" cy="804672"/>
          </a:xfrm>
          <a:prstGeom prst="rect">
            <a:avLst/>
          </a:prstGeom>
          <a:solidFill>
            <a:srgbClr val="161D30"/>
          </a:solidFill>
          <a:ln w="9525">
            <a:solidFill>
              <a:srgbClr val="2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508406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9CF9"/>
                </a:solidFill>
              </a:rPr>
              <a:t>QUERY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5303520"/>
            <a:ext cx="3246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5BC"/>
                </a:solidFill>
              </a:rPr>
              <a:t>The grounding layer receives Siemens tools and answers any question without ever calling SiePortal at query time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722"/>
          </a:solidFill>
          <a:ln w="9525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576E"/>
                </a:solidFill>
              </a:rPr>
              <a:t>GRAPH · DATABASE · SEMANTIC — THREE SURFACES, ONE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02952" y="6473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A93"/>
                </a:solidFill>
              </a:rPr>
              <a:t>6 / 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1672" y="64739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F9CF9"/>
                </a:solidFill>
              </a:rPr>
              <a:t>Reshape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